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4864" cy="10972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招商银行在架产品对比分析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增额分红终身寿险 · 18款产品全维度对比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测评条件：40岁女士 | 3年期交 | 年缴100万（总保费300万）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新华人寿 · 宏御世家终身寿险（分红型）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目录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产品概览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965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18款产品基本信息一览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现金价值对比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各年度收益横向对比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关键指标分析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保额递增率 · 减保规则 · 贷款利率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公司实力梯队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97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偿付能力 · 风险评级 · 品牌排名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增值服务对比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74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健康管理 · 康养布局 · 高客权益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新华品牌优势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852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宏御世家核心竞争力总结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  产品概览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2011680"/>
                <a:gridCol w="1828800"/>
                <a:gridCol w="91440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公司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产品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起购门槛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保额递增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回本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减保限制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新华人寿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宏御世家（分红型）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趸交5万/期缴2万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1.75%+分红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4年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20%/年不限次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中信保诚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隽享承金B款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1万起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2%+1.4%分红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20%/年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中意人寿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一生挚爱（盛世版）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1万起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2%+1.4%分红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5年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20%/年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大都会人寿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都会盛世（尊享版）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趸交50万/期交20万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1.75%+分红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20%/年不限次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友邦保险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盛世经典众享版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1万起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1.75%+分红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6年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领取不受限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平安人寿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盈尊优享A款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3年交5万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1.75%+1.225%分红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20%/年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泰康人寿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步步高E款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趸交10万/期交1万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1.75%+分红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6年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20%/年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太平洋人寿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鑫福相伴（恒享25A）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期交3年5万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1.75%+分红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20%/年不限次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中国人寿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鸿耀金生（分红型）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期交1万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1.75%+分红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5年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20%/年不限次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中国人保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臻传世家（分红型）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3年交2万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2.0%+分红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20%/年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中英人寿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鑫悦未来2号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趸交5万/3年交3万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2%+分红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6年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20%/年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阳光人寿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臻盈倍致庆典版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趸交1万/期交5千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1.75%+1.4%分红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20%/年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注：金色高亮行为重点推荐产品——新华宏御世家。完整18款产品数据详见附录。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 现金价值对比 — 回本速度与短期表现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回本速度排名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029200" cy="41148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华泰鸿利满满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3年多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5029200" cy="41148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大都会都会盛世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4年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5029200" cy="41148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新华宏御世家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4年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46120"/>
            <a:ext cx="5029200" cy="41148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中宏宏盈人生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4年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40"/>
            <a:ext cx="5029200" cy="41148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其余9款产品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5年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51960"/>
            <a:ext cx="5029200" cy="41148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泰康/中英/友邦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6年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54880"/>
            <a:ext cx="5029200" cy="41148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00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国鸿盈一生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800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7年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第5年末现金价值排名（总保费300万）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217920" y="164592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56032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产品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现金价值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超保费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中意一生挚爱（盛世版）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308.2万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2.7%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中信保诚隽享承金B款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307.3万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2.4%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大都会都会盛世（尊享版）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315.1万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5.0%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华泰鸿利满满（尊享版）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314.0万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4.7%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新华宏御世家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311.0万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3.7%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21792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第4年末新华现金价值302.2万，即已回本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长期视角：中信保诚（第50年1377万）、中意盛世（1401万）长期演示收益领先，但需关注分红实现率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 现金价值对比 — 中长期增长趋势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1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1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年度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新华宏御世家</a:t>
                      </a:r>
                    </a:p>
                  </a:txBody>
                  <a:tcPr anchor="ctr"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中信保诚B款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中意盛世版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大都会尊享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平安盈尊优享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友邦盛世经典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第5年末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311.0万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307.3万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308.2万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315.1万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300.2万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301.9万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第10年末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359.4万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362.6万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374.2万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369.2万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346.9万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350.2万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第20年末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479.7万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505.1万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520.8万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506.7万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463.4万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490.5万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第30年末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643.0万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705.6万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726.9万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697.8万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621.1万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668.7万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第50年末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1,155.7万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1,377.0万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1,401.2万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1,324.2万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1,116.4万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1,236.0万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分析总结：</a:t>
            </a:r>
            <a:br/>
            <a:r>
              <a:t>- 中信保诚、中意人寿（盛世版）长期演示收益最高，得益于2%保证利率+1.4%分红演示</a:t>
            </a:r>
            <a:br/>
            <a:r>
              <a:t>- 新华宏御世家短期表现优秀（第5年311万），长期增长稳健</a:t>
            </a:r>
            <a:br/>
            <a:r>
              <a:t>- 平安盈尊优享长期能力偏弱，但综合金融生态价值难以量化</a:t>
            </a:r>
            <a:br/>
            <a:r>
              <a:t>- 需注意：演示利益≠实际收益，分红部分取决于公司实际投资表现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 关键指标分析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474720" cy="411480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保额递增率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1.75% vs 2.0%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• 新华：1.75% + 分红（行业主流）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• 中信保诚/中意/太平/中英/人保：2.0%保证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• 保证利率差异0.25%，但分红才是关键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• 新华历史分红实现率稳定可靠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97280"/>
            <a:ext cx="3474720" cy="411480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减保灵活性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新华：20%/年不限次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• 最灵活：中宏、友邦（领取不受限）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63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• 新华：20%/年不限次，红利可选领取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57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• 华泰/平安：20%/年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251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• 国鸿：灵活减保，但品牌较小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097280"/>
            <a:ext cx="3474720" cy="411480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保单贷款利率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新华：4.5%（行业主流）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• 最优惠：阳光（大单可至4.0%）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063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• 较低：华泰（4.2%）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657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• 主流：新华/太保/国寿/大都会/友邦 4.5%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51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• 偏高：中英5.48%、泰康/太平5%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69280"/>
            <a:ext cx="112471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新华宏御世家：保额递增率行业主流 | 减保灵活（不限次+红利可选领取） | 贷款利率行业主流水平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 公司实力梯队与偿付能力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743200" cy="292608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  <a:latin typeface="微软雅黑" panose="020B0503020204020204" charset="-122"/>
              </a:defRPr>
            </a:pPr>
            <a:r>
              <a:t>超一线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世界500强TOP100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中国人寿（500强第54位·副部级央企）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中国平安（500强第33位·全球保险资产第一）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太平洋人寿（500强第251位·A+H+L三地上市）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097280"/>
            <a:ext cx="2743200" cy="292608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097280"/>
            <a:ext cx="2743200" cy="5486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第一梯队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头部上市险企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★ 新华保险（A+H上市·央企控股·中投直管）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中国人保（新中国第一家保险公司·财政部控股）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097280"/>
            <a:ext cx="2743200" cy="292608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097280"/>
            <a:ext cx="2743200" cy="54864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2D55"/>
                </a:solidFill>
                <a:latin typeface="微软雅黑" panose="020B0503020204020204" charset="-122"/>
              </a:defRPr>
            </a:pPr>
            <a:r>
              <a:t>第二梯队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合资/实力险企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友邦/泰康/中信保诚/中意/中英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大都会/中宏/阳光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79" y="1097280"/>
            <a:ext cx="2743200" cy="292608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79" y="1097280"/>
            <a:ext cx="2743200" cy="54864"/>
          </a:xfrm>
          <a:prstGeom prst="rect">
            <a:avLst/>
          </a:prstGeom>
          <a:solidFill>
            <a:srgbClr val="9E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59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第三梯队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59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中小型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华泰人寿/国鸿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重点公司偿付能力一览（2025年最新）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" y="475488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公司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综合偿付能力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核心偿付能力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风险评级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新华保险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211.47%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181%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AA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中国人寿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207.76%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153.34%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AAA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中国平安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236%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181%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太平洋人寿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AAA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友邦保险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413.48%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280.16%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AAA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中信保诚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256%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112.5%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BBB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泰康人寿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321.20%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224.38%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 增值服务与康养布局对比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560320"/>
                <a:gridCol w="2560320"/>
                <a:gridCol w="2377440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公司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健康管理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高客权益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养老布局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其他特色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新华保险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医疗绿通+红圈所律师</a:t>
                      </a:r>
                      <a:br/>
                      <a:r>
                        <a:t>视频问诊+专家会诊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瑞中5级+新华尊3级</a:t>
                      </a:r>
                      <a:br/>
                      <a:r>
                        <a:t>（新钻/蓝钻/黑钻）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16城21社区</a:t>
                      </a:r>
                      <a:br/>
                      <a:r>
                        <a:t>10城11旅居</a:t>
                      </a:r>
                      <a:br/>
                      <a:r>
                        <a:t>自有康复医院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央企控股</a:t>
                      </a:r>
                      <a:br/>
                      <a:r>
                        <a:t>1700+分支机构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中国平安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三私一检</a:t>
                      </a:r>
                      <a:br/>
                      <a:r>
                        <a:t>私人医生/教练/营养师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金钻/黑钻私享服务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8城高端康养</a:t>
                      </a:r>
                      <a:br/>
                      <a:r>
                        <a:t>居家三位一体管家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综合金融集团</a:t>
                      </a:r>
                      <a:br/>
                      <a:r>
                        <a:t>全球品牌价值第一</a:t>
                      </a:r>
                    </a:p>
                  </a:txBody>
                  <a:tcPr anchor="ctr"/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泰康人寿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重疾绿通+海外二诊</a:t>
                      </a:r>
                      <a:br/>
                      <a:r>
                        <a:t>MR肿瘤筛查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保费门槛低</a:t>
                      </a:r>
                      <a:br/>
                      <a:r>
                        <a:t>1万起享绿通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37城46项目</a:t>
                      </a:r>
                      <a:br/>
                      <a:r>
                        <a:t>24城27社区</a:t>
                      </a:r>
                      <a:br/>
                      <a:r>
                        <a:t>行业最大网络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连续6年500强</a:t>
                      </a:r>
                      <a:br/>
                      <a:r>
                        <a:t>管理资产4.5万亿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太平洋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健享家7级会员</a:t>
                      </a:r>
                      <a:br/>
                      <a:r>
                        <a:t>从大众到超级至尊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3000万以上</a:t>
                      </a:r>
                      <a:br/>
                      <a:r>
                        <a:t>5家人共享全球医疗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太保家园13城15项目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500强第251位</a:t>
                      </a:r>
                      <a:br/>
                      <a:r>
                        <a:t>三地上市</a:t>
                      </a:r>
                    </a:p>
                  </a:txBody>
                  <a:tcPr anchor="ctr"/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中国人寿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5级VIP体系</a:t>
                      </a:r>
                      <a:br/>
                      <a:r>
                        <a:t>免疫力提升/亲子美育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1500万总保费</a:t>
                      </a:r>
                      <a:br/>
                      <a:r>
                        <a:t>重疾管理版服务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500强第54位</a:t>
                      </a:r>
                      <a:br/>
                      <a:r>
                        <a:t>副部级央企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太平人寿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美年大健康体检</a:t>
                      </a:r>
                      <a:br/>
                      <a:r>
                        <a:t>一站式医疗服务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多级会员体系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25省56市70家</a:t>
                      </a:r>
                      <a:br/>
                      <a:r>
                        <a:t>行业最大之一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95年历史</a:t>
                      </a:r>
                      <a:br/>
                      <a:r>
                        <a:t>四大保险央企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 新华宏御世家 · 核心竞争力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新华保险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474720" cy="2377440"/>
          </a:xfrm>
          <a:prstGeom prst="round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80160"/>
            <a:ext cx="640080" cy="64008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0B1D3A"/>
                </a:solidFill>
              </a:defRPr>
            </a:pPr>
            <a:r>
              <a:t>A+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品牌实力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老六家头部险企</a:t>
            </a:r>
            <a:br/>
            <a:r>
              <a:t>A+H股同步上市</a:t>
            </a:r>
            <a:br/>
            <a:r>
              <a:t>中投公司直管</a:t>
            </a:r>
            <a:br/>
            <a:r>
              <a:t>中央汇金+宝武控股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97280"/>
            <a:ext cx="3474720" cy="2377440"/>
          </a:xfrm>
          <a:prstGeom prst="round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1280160"/>
            <a:ext cx="640080" cy="64008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0B1D3A"/>
                </a:solidFill>
              </a:defRPr>
            </a:pPr>
            <a:r>
              <a:t>4年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回本速度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300万总保费</a:t>
            </a:r>
            <a:br/>
            <a:r>
              <a:t>第4年末现价302.2万</a:t>
            </a:r>
            <a:br/>
            <a:r>
              <a:t>全部18款产品前4</a:t>
            </a:r>
            <a:br/>
            <a:r>
              <a:t>资金周转效率高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97280"/>
            <a:ext cx="3474720" cy="2377440"/>
          </a:xfrm>
          <a:prstGeom prst="round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1280160"/>
            <a:ext cx="640080" cy="64008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0B1D3A"/>
                </a:solidFill>
              </a:defRPr>
            </a:pPr>
            <a: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减保灵活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每年20%不限次</a:t>
            </a:r>
            <a:br/>
            <a:r>
              <a:t>红利可选累计生息</a:t>
            </a:r>
            <a:br/>
            <a:r>
              <a:t>或交清增额复利</a:t>
            </a:r>
            <a:br/>
            <a:r>
              <a:t>流动性优势明显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3474720" cy="2377440"/>
          </a:xfrm>
          <a:prstGeom prst="round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023360"/>
            <a:ext cx="640080" cy="64008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0B1D3A"/>
                </a:solidFill>
              </a:defRPr>
            </a:pPr>
            <a:r>
              <a:t>16+10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康养布局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16城21家康养社区</a:t>
            </a:r>
            <a:br/>
            <a:r>
              <a:t>10城11个旅居项目</a:t>
            </a:r>
            <a:br/>
            <a:r>
              <a:t>自有北京康复医院</a:t>
            </a:r>
            <a:br/>
            <a:r>
              <a:t>60家顶尖医疗合作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40480"/>
            <a:ext cx="3474720" cy="2377440"/>
          </a:xfrm>
          <a:prstGeom prst="round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80560" y="4023360"/>
            <a:ext cx="640080" cy="64008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0B1D3A"/>
                </a:solidFill>
              </a:defRPr>
            </a:pPr>
            <a:r>
              <a:t>AA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经营稳健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846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偿付能力211.47%</a:t>
            </a:r>
            <a:br/>
            <a:r>
              <a:t>远超监管红线</a:t>
            </a:r>
            <a:br/>
            <a:r>
              <a:t>央企控股资产安全</a:t>
            </a:r>
            <a:br/>
            <a:r>
              <a:t>历史分红稳定可靠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840480"/>
            <a:ext cx="3474720" cy="2377440"/>
          </a:xfrm>
          <a:prstGeom prst="round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21040" y="4023360"/>
            <a:ext cx="640080" cy="64008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0B1D3A"/>
                </a:solidFill>
              </a:defRPr>
            </a:pPr>
            <a:r>
              <a:t>2万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门槛亲民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846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趸交仅5万起</a:t>
            </a:r>
            <a:br/>
            <a:r>
              <a:t>期缴2万起</a:t>
            </a:r>
            <a:br/>
            <a:r>
              <a:t>对比同级别产品</a:t>
            </a:r>
            <a:br/>
            <a:r>
              <a:t>门槛大幅降低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 新华宏御世家 · 综合评分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77724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4389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评估维度</a:t>
                      </a:r>
                    </a:p>
                  </a:txBody>
                  <a:tcPr anchor="ctr"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评分</a:t>
                      </a:r>
                    </a:p>
                  </a:txBody>
                  <a:tcPr anchor="ctr"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C412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品牌实力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老六家，央企控股，A+H上市，全国1700+分支机构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回本速度</a:t>
                      </a:r>
                    </a:p>
                  </a:txBody>
                  <a:tcPr anchor="ctr"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4年回本，位列18款产品前4名</a:t>
                      </a:r>
                    </a:p>
                  </a:txBody>
                  <a:tcPr anchor="ctr">
                    <a:solidFill>
                      <a:srgbClr val="FFFD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现金价值（短期）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第5年311万，排名前五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现金价值（长期）</a:t>
                      </a:r>
                    </a:p>
                  </a:txBody>
                  <a:tcPr anchor="ctr"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中等水平，稳健不激进</a:t>
                      </a:r>
                    </a:p>
                  </a:txBody>
                  <a:tcPr anchor="ctr">
                    <a:solidFill>
                      <a:srgbClr val="FFFD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减保灵活性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20%/年不限次+红利灵活支取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增值服务</a:t>
                      </a:r>
                    </a:p>
                  </a:txBody>
                  <a:tcPr anchor="ctr"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瑞中+新华尊双体系，16城康养全国领先</a:t>
                      </a:r>
                    </a:p>
                  </a:txBody>
                  <a:tcPr anchor="ctr">
                    <a:solidFill>
                      <a:srgbClr val="FFFD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起购门槛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趸交5万/期缴2万，同级别最低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公司安全性</a:t>
                      </a:r>
                    </a:p>
                  </a:txBody>
                  <a:tcPr anchor="ctr"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央企控股，偿付能力211%，AA评级</a:t>
                      </a:r>
                    </a:p>
                  </a:txBody>
                  <a:tcPr anchor="ctr">
                    <a:solidFill>
                      <a:srgbClr val="FFFDF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686800" y="1097280"/>
            <a:ext cx="3200400" cy="5029200"/>
          </a:xfrm>
          <a:prstGeom prst="round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1280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综合评价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新华宏御世家是一款</a:t>
            </a:r>
            <a:br/>
            <a:br/>
            <a:r>
              <a:t>✦ 品牌实力强</a:t>
            </a:r>
            <a:br/>
            <a:r>
              <a:t>   央企控股，第一梯队</a:t>
            </a:r>
            <a:br/>
            <a:br/>
            <a:r>
              <a:t>✦ 回本速度快</a:t>
            </a:r>
            <a:br/>
            <a:r>
              <a:t>   4年回本，资金效率高</a:t>
            </a:r>
            <a:br/>
            <a:br/>
            <a:r>
              <a:t>✦ 门槛低门槛亲民</a:t>
            </a:r>
            <a:br/>
            <a:r>
              <a:t>   趸交5万/期缴2万</a:t>
            </a:r>
            <a:br/>
            <a:br/>
            <a:r>
              <a:t>✦ 服务体系完善</a:t>
            </a:r>
            <a:br/>
            <a:r>
              <a:t>   康养全国布局领先</a:t>
            </a:r>
            <a:br/>
            <a:br/>
            <a:r>
              <a:t>特别适合看重品牌安全性、</a:t>
            </a:r>
            <a:br/>
            <a:r>
              <a:t>希望短期回本并享受高品质</a:t>
            </a:r>
            <a:br/>
            <a:r>
              <a:t>康养服务的中高净值客户。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其他产品亮点 · 客观评价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  <a:gridCol w="338328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产品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核心优势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适合人群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注意事项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华泰鸿利满满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3年最快回本</a:t>
                      </a:r>
                      <a:br/>
                      <a:r>
                        <a:t>贷款利率4.2%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追求极致回本速度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公司规模较小</a:t>
                      </a:r>
                      <a:br/>
                      <a:r>
                        <a:t>品牌知名度有限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中信保诚B款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长期现价极高</a:t>
                      </a:r>
                      <a:br/>
                      <a:r>
                        <a:t>第50年1377万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长期财富传承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偿付能力核心112.5%</a:t>
                      </a:r>
                      <a:br/>
                      <a:r>
                        <a:t>风险评级BBB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中意一生挚爱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投资收益率行业第一</a:t>
                      </a:r>
                      <a:br/>
                      <a:r>
                        <a:t>长期收益最高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追求极致长期收益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贷款利率4.8%偏高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友邦盛世经典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偿付能力413%第一</a:t>
                      </a:r>
                      <a:br/>
                      <a:r>
                        <a:t>AAA评级</a:t>
                      </a:r>
                      <a:br/>
                      <a:r>
                        <a:t>减保不受限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追求最高安全性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保额递增1.75%</a:t>
                      </a:r>
                      <a:br/>
                      <a:r>
                        <a:t>回本需6年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平安盈尊优享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综合金融生态</a:t>
                      </a:r>
                      <a:br/>
                      <a:r>
                        <a:t>居家养老三位一体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看重综合金融+养老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长期现价表现偏弱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泰康步步高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泰康之家37城</a:t>
                      </a:r>
                      <a:br/>
                      <a:r>
                        <a:t>最大养老社区网络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养老社区需求明确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回本需6年</a:t>
                      </a:r>
                      <a:br/>
                      <a:r>
                        <a:t>贷款利率5%偏高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阳光臻盈倍致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贷款利率最低</a:t>
                      </a:r>
                      <a:br/>
                      <a:r>
                        <a:t>大单可至4.0%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预算有限需保单贷款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公司品牌力一般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4864" cy="914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新华保险 · 宏御世家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374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7"/>
                </a:solidFill>
                <a:latin typeface="微软雅黑" panose="020B0503020204020204" charset="-122"/>
              </a:defRPr>
            </a:pPr>
            <a:r>
              <a:t>央企品牌 · 快速回本 · 康养领先 · 门槛亲民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感谢查阅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EA7B8"/>
                </a:solidFill>
                <a:latin typeface="微软雅黑" panose="020B0503020204020204" charset="-122"/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3564</Words>
  <Application>WPS 演示</Application>
  <PresentationFormat>On-screen Show (4:3)</PresentationFormat>
  <Paragraphs>768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进击的王老板</cp:lastModifiedBy>
  <cp:revision>2</cp:revision>
  <dcterms:created xsi:type="dcterms:W3CDTF">2013-01-27T09:14:00Z</dcterms:created>
  <dcterms:modified xsi:type="dcterms:W3CDTF">2026-06-29T17:21:00Z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E6A1919B771845A7A92C075DADF1B03F_12</vt:lpwstr>
  </property>
  <property fmtid="{D5CDD505-2E9C-101B-9397-08002B2CF9AE}" pid="3" name="KSOProductBuildVer">
    <vt:lpwstr>2052-12.1.0.26895</vt:lpwstr>
  </property>
</Properties>
</file>