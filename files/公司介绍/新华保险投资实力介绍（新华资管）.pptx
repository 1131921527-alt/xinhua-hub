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1.svg" ContentType="image/svg+xml"/>
  <Override PartName="/ppt/media/image33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4.svg" ContentType="image/svg+xml"/>
  <Override PartName="/ppt/media/image41.svg" ContentType="image/svg+xml"/>
  <Override PartName="/ppt/media/image43.svg" ContentType="image/svg+xml"/>
  <Override PartName="/ppt/media/image45.svg" ContentType="image/svg+xml"/>
  <Override PartName="/ppt/media/image47.svg" ContentType="image/svg+xml"/>
  <Override PartName="/ppt/media/image49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各位领导、各位来宾，大家好。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今天，非常荣幸能向大家展示新华保险的投资实力与成果。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新华保险始终坚持“专业投资、稳健增值、服务实体”的理念。我们拥有专业的投研团队和完善的风控体系，致力于为客户创造长期稳定的价值。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接下来，我们将从投资能力、业绩表现以及服务实体经济等多个维度，为您详细解读。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各位领导、各位投资人，大家好。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这一页我们重点回顾一下穿越周期的投资业绩表现。我们将业绩分为“长期积淀”和“近期突破”两个维度来看。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看左侧的长期价值。在固收领域，从2012年到2024年，我们的净值涨幅大幅跑赢公募基金指数30个百分点，配置盘年化收益达到5.6%，为组合提供了坚实的安全垫。在港股投资方面，我们的7人精锐团队管理着700亿的持仓，持续跑赢恒生指数，其中最典型的案例是泡泡玛特，单票实现了10倍以上的收益，累计盈利约50亿元，展现了极强的选股能力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看右侧的近期业绩。2024年，我们的综合投资收益率达到8.5%，创下历史新高，远超年初设定的4.5%的目标，总投资收益率为5.8%，管理资产规模突破1.6万亿。进入2025年上半年，业绩继续领跑，年化综合收益率达到6.3%，总投资收益率5.9%，管理规模进一步攀升至1.7万亿以上，其中A股投资组合的涨幅更是位居行业第一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这些数据充分证明了我们在不同市场环境下，无论是稳健收益还是超额回报，都具备持续创造价值的能力。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各位领导、各位投资人：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这一页我们重点回顾2024年的四大投资操作亮点。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首先是债券投资，我们做到了精准的波段操作。上半年在高位果断卖出，成功落袋为安；下半年则抓住了利率下行的市场机会，大幅加仓，充分享受了债市走牛带来的红利。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在A股权益方面，我们体现了极强的逆向择时能力。在市场低点2700点附近持续加仓，而在924行情脉冲后以及国庆首日，我们又果断进行了逆向减仓，有效控制了回撤风险。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第三是OCI高股息策略的爆发。这一策略的持仓规模从年初的53.7亿元大幅增长到了年末的306.4亿元，增幅达到470.6%，为组合锁定了长期稳定的分红收益。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最后是基金投资表现亮眼，全年收益率达到12.03%，实现了8.03%的超额收益，大幅跑赢了市场基准。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这些操作充分体现了我们专业的投研能力和对市场节奏的精准把握。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各位投资人，这一页我们重点解读我们的投资理念与资产配置策略。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在投资理念上，我们坚持三个核心原则：第一是长期价值导向，我们不追逐短期热点，而是以时间换空间；第二是宏观与产业的双轮驱动，通过深入的研究来把握趋势；第三是多元策略，追求绝对收益，平滑组合波动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基于这样的理念，我们构建了稳健的资产配置结构：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首先是“债券打底”，占比约50%，我们重点配置超长期利率债，这不仅是组合的压舱石，更为我们提供稳定的现金流。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其次是“多元增强”，占比约38.4%，通过另类资产和其他金融产品的配置，拓宽收益来源，分散风险。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最后是“权益点缀”，占比约11.6%，主要聚焦于高股息的价值股，在控制风险的前提下，为组合提供一定的弹性收益。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这种配置的核心目标就是稳健，通过不同资产的搭配，有效降低市场波动对整体利润的影响，实现长期的财富保值增值。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各位领导、各位同事：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这一页我们重点介绍鸿鹄基金的标杆案例。作为国内首只险资私募证券投资基金，鸿鹄基金是保险资金长期投资改革的首个试点项目，由新华保险与中国人寿两大巨头联合发起。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在规模上，三期累计总规模已超过1100亿元，其中新华保险出资达到462.5亿元，这充分体现了险资对于长期价值投资的信心与决心。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在投资方向上，基金精准投向了伊利股份、陕西煤业、中国电信、中国石化、中国石油、中国神华等具有高股息特征的国计民生大盘蓝筹股，这些企业现金流稳定，分红回报优厚。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从业绩来看，2025年上半年，基金实现营收12.03亿元，净利润达到9.68亿元，表现非常亮眼。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鸿鹄基金的成功运作，不仅获得了监管部门的高度肯定，更重要的是它发挥了“长钱长投”的示范效应，为保险资金及其他中长期资金入市提供了可复制的路径，对于稳定资本市场、引导价值投资具有深远的意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各位领导，接下来我们看到的是多元投资布局的具体实践。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我们的投资版图主要分为三大板块：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硬科技投资，这是我们面向未来的战略布局。我们出资10亿元设立智集芯基金，重点投向集成电路领域，支持芯片半导体的国产替代；同时通过中科创星基金，在新材料、新能源等前沿赛道挖掘早期硬核科技，抢占技术高地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经典另类投资，这类投资往往能带来稳健且可观的回报。比如我们对中石油管道的投资，不仅响应了国家能源战略，更实现了全周期170%的回报；对中国银联的投资则享受到了金融基建和消费升级的红利，年化收益超过14%。此外，我们还通过芬兰光刻胶项目，助力破解“卡脖子”难题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高股息举牌，这是我们获取稳定现金流的重要手段。我们布局了上海医药、海通证券等优质标的，这些企业不仅能提供持续的分红，还能通过资本纽带实现产业协同，比如在医疗资源整合和金融服务创新上发挥更大价值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这三个板块相互补充，既保障了短期的收益稳定性，又奠定了长期的增长基础。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各位领导、各位来宾：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最后，让我们再次回顾今天的核心主题。作为中国资本市场的重要参与者，新华保险及新华资产始终致力于成为“长期资本、耐心资本”。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这不仅是一句口号，更是我们行动的指南，体现在三个关键方面：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首先是专业投研能力，这是我们立足市场的根本，为资产配置提供科学支撑；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其次是穿越周期的业绩，我们坚持长期投资理念，在波动中保持定力，实现资产的稳健增值；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最后是服务国家战略，我们积极响应国家号召，将金融活水精准滴灌到实体经济的重点领域，彰显央企的责任与担当。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未来，我们将继续坚守初心，与各位携手共赢，共创美好未来。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4" Type="http://schemas.openxmlformats.org/officeDocument/2006/relationships/image" Target="../media/image18.svg"/><Relationship Id="rId3" Type="http://schemas.openxmlformats.org/officeDocument/2006/relationships/image" Target="../media/image17.png"/><Relationship Id="rId2" Type="http://schemas.openxmlformats.org/officeDocument/2006/relationships/image" Target="../media/image16.sv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9.png"/><Relationship Id="rId6" Type="http://schemas.openxmlformats.org/officeDocument/2006/relationships/image" Target="../media/image28.svg"/><Relationship Id="rId5" Type="http://schemas.openxmlformats.org/officeDocument/2006/relationships/image" Target="../media/image27.png"/><Relationship Id="rId4" Type="http://schemas.openxmlformats.org/officeDocument/2006/relationships/image" Target="../media/image26.svg"/><Relationship Id="rId3" Type="http://schemas.openxmlformats.org/officeDocument/2006/relationships/image" Target="../media/image25.png"/><Relationship Id="rId2" Type="http://schemas.openxmlformats.org/officeDocument/2006/relationships/image" Target="../media/image24.svg"/><Relationship Id="rId1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37.svg"/><Relationship Id="rId7" Type="http://schemas.openxmlformats.org/officeDocument/2006/relationships/image" Target="../media/image36.png"/><Relationship Id="rId6" Type="http://schemas.openxmlformats.org/officeDocument/2006/relationships/image" Target="../media/image35.svg"/><Relationship Id="rId5" Type="http://schemas.openxmlformats.org/officeDocument/2006/relationships/image" Target="../media/image34.png"/><Relationship Id="rId4" Type="http://schemas.openxmlformats.org/officeDocument/2006/relationships/image" Target="../media/image33.svg"/><Relationship Id="rId3" Type="http://schemas.openxmlformats.org/officeDocument/2006/relationships/image" Target="../media/image32.png"/><Relationship Id="rId2" Type="http://schemas.openxmlformats.org/officeDocument/2006/relationships/image" Target="../media/image31.sv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4" Type="http://schemas.openxmlformats.org/officeDocument/2006/relationships/image" Target="../media/image41.svg"/><Relationship Id="rId3" Type="http://schemas.openxmlformats.org/officeDocument/2006/relationships/image" Target="../media/image40.png"/><Relationship Id="rId2" Type="http://schemas.openxmlformats.org/officeDocument/2006/relationships/image" Target="../media/image39.svg"/><Relationship Id="rId1" Type="http://schemas.openxmlformats.org/officeDocument/2006/relationships/image" Target="../media/image3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0.png"/><Relationship Id="rId6" Type="http://schemas.openxmlformats.org/officeDocument/2006/relationships/image" Target="../media/image49.svg"/><Relationship Id="rId5" Type="http://schemas.openxmlformats.org/officeDocument/2006/relationships/image" Target="../media/image48.png"/><Relationship Id="rId4" Type="http://schemas.openxmlformats.org/officeDocument/2006/relationships/image" Target="../media/image47.svg"/><Relationship Id="rId3" Type="http://schemas.openxmlformats.org/officeDocument/2006/relationships/image" Target="../media/image46.png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C8102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175000" cy="3175000"/>
          </a:xfrm>
          <a:prstGeom prst="ellipse">
            <a:avLst/>
          </a:prstGeom>
          <a:solidFill>
            <a:srgbClr val="C8102E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152400"/>
          </a:xfrm>
          <a:prstGeom prst="roundRect">
            <a:avLst>
              <a:gd name="adj" fmla="val 0"/>
            </a:avLst>
          </a:prstGeom>
          <a:solidFill>
            <a:srgbClr val="C810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381000" y="127000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C8102E"/>
                </a:solidFill>
                <a:latin typeface="Noto Sans SC"/>
                <a:ea typeface="Noto Sans SC"/>
                <a:cs typeface="Noto Sans SC"/>
                <a:sym typeface="Noto Sans SC"/>
              </a:rPr>
              <a:t>新华保险投资实力与成果展示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461000" y="2413000"/>
            <a:ext cx="1270000" cy="50800"/>
          </a:xfrm>
          <a:prstGeom prst="roundRect">
            <a:avLst>
              <a:gd name="adj" fmla="val 0"/>
            </a:avLst>
          </a:prstGeom>
          <a:solidFill>
            <a:srgbClr val="C810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381000" y="2667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专业投资 · 稳健增值 · 服务实体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3556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8100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810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专业研判 科学配置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952500" y="4381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汇聚资深投研团队，覆盖全市场资产类别，构建多元配置模型，以专业视角精准捕捉市场机遇，实现资产的科学布局。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381500" y="3556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3810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080000" y="3810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严控风险 保值增值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635500" y="4381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坚守风险底线思维，建立全方位风控体系，在安全边际内追求长期可持续的绝对收益，守护客户资产价值稳定增长。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64500" y="3556000"/>
            <a:ext cx="3429000" cy="1905000"/>
          </a:xfrm>
          <a:prstGeom prst="roundRect">
            <a:avLst>
              <a:gd name="adj" fmla="val 0"/>
            </a:avLst>
          </a:prstGeom>
          <a:solidFill>
            <a:srgbClr val="F9F9F9">
              <a:alpha val="100000"/>
            </a:srgbClr>
          </a:solidFill>
          <a:ln w="12700" cap="flat" cmpd="sng">
            <a:solidFill>
              <a:srgbClr val="E5E5E5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18500" y="3810000"/>
            <a:ext cx="355600" cy="355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763000" y="3810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聚焦战略 赋能实体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4381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响应国家政策号召，加大对实体经济支持力度，将保险资金的长期优势转化为服务国家战略、推动社会发展的源动力。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4092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0" y="6032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新华资产 | 做值得信赖的资产管理专家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EF4444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1E3A8A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508000"/>
            <a:ext cx="1092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11827"/>
                </a:solidFill>
                <a:latin typeface="Noto Sans SC"/>
                <a:ea typeface="Noto Sans SC"/>
                <a:cs typeface="Noto Sans SC"/>
                <a:sym typeface="Noto Sans SC"/>
              </a:rPr>
              <a:t>穿越周期的投资业绩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35000" y="139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01 长期价值积淀：稳健与超额并重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635000" y="19685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2222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固收投资 · 穿越牛熊 (2012-2024)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279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+30%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21000" y="28194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净值涨幅大幅跑赢公募基金指数，配置盘年化收益稳定在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5.6%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，为组合提供坚实安全垫。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" y="42545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9000" y="450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450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港股投资 · 极致选股能力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89000" y="5080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10倍+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2921000" y="51054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7人精锐团队管理700亿持仓，持续跑赢恒生指数。代表案例：泡泡玛特单票盈利约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50亿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1397000"/>
            <a:ext cx="533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02 近期业绩突破：规模与收益双升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223000" y="19685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22225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2222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2024年度 · 创历史新高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79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8.5%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09000" y="28194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综合投资收益率创历史峰值，远超年初4.5%目标。总收益率5.8%，管理资产规模突破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1.6万亿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254500"/>
            <a:ext cx="5334000" cy="2095500"/>
          </a:xfrm>
          <a:prstGeom prst="roundRect">
            <a:avLst>
              <a:gd name="adj" fmla="val 0"/>
            </a:avLst>
          </a:prstGeom>
          <a:solidFill>
            <a:srgbClr val="F5F3FF">
              <a:alpha val="100000"/>
            </a:srgbClr>
          </a:solidFill>
          <a:ln w="12700" cap="flat" cmpd="sng">
            <a:solidFill>
              <a:srgbClr val="DDD6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5085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6985000" y="45085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2025上半年 · 行业领跑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5080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DC2626"/>
                </a:solidFill>
                <a:latin typeface="Noto Sans SC"/>
                <a:ea typeface="Noto Sans SC"/>
                <a:cs typeface="Noto Sans SC"/>
                <a:sym typeface="Noto Sans SC"/>
              </a:rPr>
              <a:t>6.3%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509000" y="5105400"/>
            <a:ext cx="279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年化综合收益率稳健上行，总投资收益率5.9%。规模超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1.7万亿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，A股投资组合涨幅位居行业第一。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DC262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DC262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2024年投资操作亮点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508000" y="1397000"/>
            <a:ext cx="5461000" cy="50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762000" y="1778000"/>
            <a:ext cx="711200" cy="711200"/>
          </a:xfrm>
          <a:prstGeom prst="ellipse">
            <a:avLst/>
          </a:prstGeom>
          <a:solidFill>
            <a:srgbClr val="DC262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9304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651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01 债券投资：精准波段，稳享红利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651000" y="22225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上半年止盈落袋 · 下半年加仓蓄力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651000" y="266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精准预判市场节奏，上半年在高位果断卖出锁定收益；下半年紧抓利率下行窗口大幅加仓，充分享受债市牛市红利，为组合构建坚实的稳健收益底盘。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223000" y="1397000"/>
            <a:ext cx="5461000" cy="50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77000" y="1778000"/>
            <a:ext cx="711200" cy="711200"/>
          </a:xfrm>
          <a:prstGeom prst="ellipse">
            <a:avLst/>
          </a:prstGeom>
          <a:solidFill>
            <a:srgbClr val="DC262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19304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366000" y="1752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02 A股权益：逆向择时，把握拐点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366000" y="22225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2700点低位加仓 · 924行情后逆向减仓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366000" y="266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在市场情绪低迷的2700点区域持续吸筹，在924行情脉冲及国庆首日精准逆向减仓，凸显专业机构对市场节奏的敏锐洞察与风控能力。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08000" y="40005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08000" y="4000500"/>
            <a:ext cx="5461000" cy="50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4381500"/>
            <a:ext cx="711200" cy="711200"/>
          </a:xfrm>
          <a:prstGeom prst="ellipse">
            <a:avLst/>
          </a:prstGeom>
          <a:solidFill>
            <a:srgbClr val="DC262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339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651000" y="4356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03 OCI高股息：规模激增，锁定分红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651000" y="4826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规模增幅 470.6% (53.7亿 → 306.4亿)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1651000" y="5270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战略布局高股息优质标的，持仓规模实现跨越式增长，从年初的53.7亿元跃升至年末306.4亿元，通过锁定长期稳定的分红收益，为组合提供安全边际。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223000" y="4000500"/>
            <a:ext cx="5461000" cy="2349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6E6E6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6223000" y="4000500"/>
            <a:ext cx="5461000" cy="50800"/>
          </a:xfrm>
          <a:prstGeom prst="roundRect">
            <a:avLst>
              <a:gd name="adj" fmla="val 0"/>
            </a:avLst>
          </a:prstGeom>
          <a:solidFill>
            <a:srgbClr val="DC26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77000" y="4381500"/>
            <a:ext cx="711200" cy="711200"/>
          </a:xfrm>
          <a:prstGeom prst="ellipse">
            <a:avLst/>
          </a:prstGeom>
          <a:solidFill>
            <a:srgbClr val="DC2626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29400" y="45339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366000" y="43561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04 基金投资：超额收益，领跑市场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366000" y="4826000"/>
            <a:ext cx="4191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全年收益 12.03% · 超额收益 8.03%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366000" y="52705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通过优选基金与科学配置，全年斩获12.03%的收益率，超额收益达8.03%，大幅跑赢市场基准指数，充分验证了专业投研与资产配置的核心价值。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38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投资理念与资产配置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609600" y="1270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2800" y="1473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19200" y="14478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01 长期价值导向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812800" y="1905000"/>
            <a:ext cx="3149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坚守长期投资与价值投资本源，摒弃短期波段操作思维。锚定资产长期增值目标，忽视市场短期噪音干扰，以时间换空间，实现财富稳健积累。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18000" y="1270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200" y="14732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927600" y="14478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02 宏观与产业双轮驱动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21200" y="1905000"/>
            <a:ext cx="3149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深化宏观政策研判与行业景气度分析，构建“宏观-中观-微观”立体研究框架。前瞻性把握经济周期与产业趋势，为资产配置提供坚实的逻辑支撑。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26400" y="1270000"/>
            <a:ext cx="3556000" cy="190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0" y="14732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636000" y="1447800"/>
            <a:ext cx="279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03 多元策略绝对收益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29600" y="1905000"/>
            <a:ext cx="31496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丰富投资品种与策略工具箱，追求非方向性、低波动的绝对收益。通过多资产、多策略的分散配置，平滑组合净值波动，力争穿越牛熊。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09600" y="3556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资产配置结构分布概览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4000500"/>
            <a:ext cx="4826000" cy="22860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9" name="AutoShape 19"/>
          <p:cNvSpPr/>
          <p:nvPr/>
        </p:nvSpPr>
        <p:spPr>
          <a:xfrm>
            <a:off x="5740400" y="3556000"/>
            <a:ext cx="5842000" cy="825500"/>
          </a:xfrm>
          <a:prstGeom prst="roundRect">
            <a:avLst>
              <a:gd name="adj" fmla="val 0"/>
            </a:avLst>
          </a:prstGeom>
          <a:solidFill>
            <a:srgbClr val="F3F4F6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5740400" y="3556000"/>
            <a:ext cx="50800" cy="82550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5918200" y="36195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债券打底（50%）：压舱石与现金流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持续增配30年/50年超长期利率债，锁定长期稳定的票息收益，构建组合的安全垫，有效抵御权益市场波动风险。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5740400" y="4445000"/>
            <a:ext cx="5842000" cy="825500"/>
          </a:xfrm>
          <a:prstGeom prst="roundRect">
            <a:avLst>
              <a:gd name="adj" fmla="val 0"/>
            </a:avLst>
          </a:prstGeom>
          <a:solidFill>
            <a:srgbClr val="F3F4F6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5740400" y="4445000"/>
            <a:ext cx="50800" cy="825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5918200" y="45085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多元增强（38.4%）：拓宽收益来源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布局公募REITs、量化对冲、私募股权等另类资产，利用非相关性收益分散风险，提升组合的抗周期能力与收益弹性。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5740400" y="5334000"/>
            <a:ext cx="5842000" cy="825500"/>
          </a:xfrm>
          <a:prstGeom prst="roundRect">
            <a:avLst>
              <a:gd name="adj" fmla="val 0"/>
            </a:avLst>
          </a:prstGeom>
          <a:solidFill>
            <a:srgbClr val="F3F4F6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5740400" y="5334000"/>
            <a:ext cx="50800" cy="825500"/>
          </a:xfrm>
          <a:prstGeom prst="roundRect">
            <a:avLst>
              <a:gd name="adj" fmla="val 0"/>
            </a:avLst>
          </a:prstGeom>
          <a:solidFill>
            <a:srgbClr val="93C5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5918200" y="5397500"/>
            <a:ext cx="558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权益点缀（11.6%）：高股息价值锚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以高股息、低估值的优质蓝筹股为主，长期持有分享企业分红与业绩增长，在控制波动的前提下增厚组合收益。</a:t>
            </a:r>
            <a:endParaRPr lang="en-US" sz="1200" b="0" i="0" u="none" strike="noStrike">
              <a:solidFill>
                <a:srgbClr val="4B556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1C3D">
                <a:alpha val="100000"/>
              </a:srgbClr>
            </a:gs>
            <a:gs pos="100000">
              <a:srgbClr val="173875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890000" y="-1270000"/>
            <a:ext cx="5080000" cy="508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381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标杆案例：鸿鹄基金——险资入市典范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397000"/>
            <a:ext cx="5461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500" y="1587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43000" y="1587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01 基金概况：改革试点里程碑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98500" y="2032000"/>
            <a:ext cx="5080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国内首只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险资私募证券投资基金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，是保险资金长期投资改革的首个试点项目。由新华保险与中国人寿两大险企联合发起，三期累计总规模超</a:t>
            </a:r>
            <a:r>
              <a:rPr lang="en-US" sz="1400" b="1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1100亿元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，其中新华保险合计出资462.5亿元，彰显险资长期价值投资的坚定决心。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" y="3873500"/>
            <a:ext cx="5461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500" y="40640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143000" y="406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核心投向：高股息国计民生蓝筹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98500" y="4635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伊利股份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消费龙头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2438400" y="4635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陕西煤业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能源基石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178300" y="4635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中国电信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数字基建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98500" y="5397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中国石化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石化巨擘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2438400" y="5397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中国石油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能源保障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178300" y="5397500"/>
            <a:ext cx="1587500" cy="571500"/>
          </a:xfrm>
          <a:prstGeom prst="roundRect">
            <a:avLst>
              <a:gd name="adj" fmla="val 0"/>
            </a:avLst>
          </a:prstGeom>
          <a:solidFill>
            <a:srgbClr val="3B82F6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中国神华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1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煤炭龙头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1397000"/>
            <a:ext cx="5461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13500" y="15875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15875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 2025上半年业绩表现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13500" y="2222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上半年总营收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2600" b="1" i="0" u="none" strike="noStrike">
                <a:solidFill>
                  <a:srgbClr val="34D399"/>
                </a:solidFill>
                <a:latin typeface="Noto Sans SC"/>
                <a:ea typeface="Noto Sans SC"/>
                <a:cs typeface="Noto Sans SC"/>
                <a:sym typeface="Noto Sans SC"/>
              </a:rPr>
              <a:t>12.03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亿元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9017000" y="2222500"/>
            <a:ext cx="2476500" cy="1079500"/>
          </a:xfrm>
          <a:prstGeom prst="roundRect">
            <a:avLst>
              <a:gd name="adj" fmla="val 0"/>
            </a:avLst>
          </a:prstGeom>
          <a:solidFill>
            <a:srgbClr val="F59E0B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上半年净利润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2600" b="1" i="0" u="none" strike="noStrike">
                <a:solidFill>
                  <a:srgbClr val="FBBF24"/>
                </a:solidFill>
                <a:latin typeface="Noto Sans SC"/>
                <a:ea typeface="Noto Sans SC"/>
                <a:cs typeface="Noto Sans SC"/>
                <a:sym typeface="Noto Sans SC"/>
              </a:rPr>
              <a:t>9.68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亿元</a:t>
            </a:r>
            <a:endParaRPr lang="en-US" sz="14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223000" y="3873500"/>
            <a:ext cx="5461000" cy="2476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13500" y="4064000"/>
            <a:ext cx="355600" cy="3556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858000" y="4064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C4899"/>
                </a:solidFill>
                <a:latin typeface="Noto Sans SC"/>
                <a:ea typeface="Noto Sans SC"/>
                <a:cs typeface="Noto Sans SC"/>
                <a:sym typeface="Noto Sans SC"/>
              </a:rPr>
              <a:t>04 行业标杆与深远影响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13500" y="4635500"/>
            <a:ext cx="5080000" cy="508000"/>
          </a:xfrm>
          <a:prstGeom prst="roundRect">
            <a:avLst>
              <a:gd name="adj" fmla="val 0"/>
            </a:avLst>
          </a:prstGeom>
          <a:solidFill>
            <a:srgbClr val="EC48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监管认可：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获国家金融监督管理总局高度肯定，成为改革标杆样本。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413500" y="5143500"/>
            <a:ext cx="5080000" cy="508000"/>
          </a:xfrm>
          <a:prstGeom prst="roundRect">
            <a:avLst>
              <a:gd name="adj" fmla="val 0"/>
            </a:avLst>
          </a:prstGeom>
          <a:solidFill>
            <a:srgbClr val="EC48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长钱示范：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践行“长钱长投”理念，引导中长期资金入市，稳定市场预期。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13500" y="5651500"/>
            <a:ext cx="5080000" cy="508000"/>
          </a:xfrm>
          <a:prstGeom prst="roundRect">
            <a:avLst>
              <a:gd name="adj" fmla="val 0"/>
            </a:avLst>
          </a:prstGeom>
          <a:solidFill>
            <a:srgbClr val="EC4899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价值引领：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聚焦分红稳定的核心资产，推动市场回归价值投资本源。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080000"/>
            <a:ext cx="2540000" cy="254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08000" y="508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多元布局：服务实体与价值创造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1524000"/>
            <a:ext cx="3556000" cy="4445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17272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117600" y="1701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01 硬科技 · 核心突围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3861">
            <a:off x="711213" y="2216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711200" y="2413000"/>
            <a:ext cx="32512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智集芯基金：半导体基石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新华出资10亿元，战略投资上海集成电路基金，深度绑定芯片设计、制造及材料全产业链，助力国产替代攻坚。</a:t>
            </a:r>
            <a:endParaRPr lang="en-US" sz="13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11200" y="3810000"/>
            <a:ext cx="3251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/>
                <a:ea typeface="Noto Sans SC"/>
                <a:cs typeface="Noto Sans SC"/>
                <a:sym typeface="Noto Sans SC"/>
              </a:rPr>
              <a:t>中科创星：早期硬核孵化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聚焦新材料、新能源与光电芯片等前沿赛道，挖掘具备核心技术壁垒的初创企业，通过“孵化+投资”模式培育科技独角兽，抢占未来产业高地。</a:t>
            </a:r>
            <a:endParaRPr lang="en-US" sz="13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4318000" y="1524000"/>
            <a:ext cx="3556000" cy="4445000"/>
          </a:xfrm>
          <a:prstGeom prst="roundRect">
            <a:avLst>
              <a:gd name="adj" fmla="val 0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200" y="17272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927600" y="1701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02 另类投资 · 稳健增值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3861">
            <a:off x="4521213" y="2216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21200" y="2413000"/>
            <a:ext cx="325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中石油管道：能源基建标杆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85亿战略投入，全周期回报达170.44%，年化收益6.6%。依托国家能源战略，实现现金流稳定与资产长期保值。</a:t>
            </a:r>
            <a:endParaRPr lang="en-US" sz="13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521200" y="3683000"/>
            <a:ext cx="3251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中国银联：金融基建红利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斩获2.52倍投资回报，年化收益14.27%。卡位支付清算核心枢纽，共享数字经济与消费升级带来的长期红利。</a:t>
            </a:r>
            <a:endParaRPr lang="en-US" sz="13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521200" y="4953000"/>
            <a:ext cx="3251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芬兰光刻胶：技术破局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落地海宁建设生产基地，破解“卡脖子”材料难题，填补国内高端光刻胶产能空白，兼具战略价值与市场潜力。</a:t>
            </a:r>
            <a:endParaRPr lang="en-US" sz="13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8128000" y="1524000"/>
            <a:ext cx="3556000" cy="4445000"/>
          </a:xfrm>
          <a:prstGeom prst="roundRect">
            <a:avLst>
              <a:gd name="adj" fmla="val 0"/>
            </a:avLst>
          </a:prstGeom>
          <a:solidFill>
            <a:srgbClr val="FFFBEB">
              <a:alpha val="100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31200" y="17272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37600" y="17018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78350F"/>
                </a:solidFill>
                <a:latin typeface="Noto Sans SC"/>
                <a:ea typeface="Noto Sans SC"/>
                <a:cs typeface="Noto Sans SC"/>
                <a:sym typeface="Noto Sans SC"/>
              </a:rPr>
              <a:t>03 高股息 · 现金赋能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-13861">
            <a:off x="8331213" y="2216150"/>
            <a:ext cx="3149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DE68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8331200" y="2413000"/>
            <a:ext cx="32512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核心资产矩阵：产业+金融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医药：上海医药、国药股份（医疗资源协同）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金融：海通证券、杭州银行（资本整合互补）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公用：北控水务（民生刚需，稳定现金流）</a:t>
            </a:r>
            <a:endParaRPr lang="en-US" sz="13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31200" y="4191000"/>
            <a:ext cx="3251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战略价值：分红与治理并重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不仅获取稳定的分红现金流，更通过股东席位参与公司治理，推动产业资源协同、业务整合与价值重估，实现财务回报与战略布局的双赢。</a:t>
            </a:r>
            <a:endParaRPr lang="en-US" sz="1300" b="0" i="0" u="none" strike="noStrike">
              <a:solidFill>
                <a:srgbClr val="47556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508000" y="6159500"/>
            <a:ext cx="1117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以多元化的资产配置穿越经济周期，在服务实体经济发展的同时，实现资本的稳健增值与长期价值创造。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B91C1C">
                <a:alpha val="100000"/>
              </a:srgbClr>
            </a:gs>
            <a:gs pos="100000">
              <a:srgbClr val="7F1D1D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255000" y="-1270000"/>
            <a:ext cx="5080000" cy="508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4445000"/>
            <a:ext cx="3810000" cy="3810000"/>
          </a:xfrm>
          <a:prstGeom prst="ellipse">
            <a:avLst/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381000" y="762000"/>
            <a:ext cx="1143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做中国资本市场的长期资本、耐心资本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" y="2286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5500" y="2603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6416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专业投研能力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8255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825500" y="3429000"/>
            <a:ext cx="2921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构建“宏观+行业+个股”的深度投研体系，以严谨的研究逻辑驱动投资决策。依托专业团队挖掘长期价值，为资产配置的科学性与前瞻性提供坚实支撑。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286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603500"/>
            <a:ext cx="457200" cy="457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6416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穿越周期业绩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14946">
            <a:off x="46355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4635500" y="3429000"/>
            <a:ext cx="2921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坚守长期投资理念，在市场波动中保持定力。通过多元化资产配置平滑风险，实现保险资金的稳健增值，持续交出经得起时间检验的长期业绩答卷。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2286000"/>
            <a:ext cx="3429000" cy="279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45500" y="2603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017000" y="2641600"/>
            <a:ext cx="2540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服务国家战略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4946">
            <a:off x="8445514" y="32321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445500" y="3429000"/>
            <a:ext cx="2921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锚定国家发展方向，积极投身实体经济与重大战略建设。将保险资金的规模优势转化为服务大局的动力，在助力经济高质量发展中彰显金融央企的责任与担当。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5729">
            <a:off x="2286005" y="5645150"/>
            <a:ext cx="762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0" y="5905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>
                    <a:alpha val="85098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新华保险 · 新华资产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2596</Words>
  <Application>WPS 演示</Application>
  <PresentationFormat/>
  <Paragraphs>182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7" baseType="lpstr">
      <vt:lpstr>Arial</vt:lpstr>
      <vt:lpstr>宋体</vt:lpstr>
      <vt:lpstr>Wingdings</vt:lpstr>
      <vt:lpstr>Arial</vt:lpstr>
      <vt:lpstr>Noto Sans SC</vt:lpstr>
      <vt:lpstr>Segoe Print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进击的王老板</cp:lastModifiedBy>
  <cp:revision>1</cp:revision>
  <dcterms:created xsi:type="dcterms:W3CDTF">2026-07-01T16:19:56Z</dcterms:created>
  <dcterms:modified xsi:type="dcterms:W3CDTF">2026-07-01T16:19:56Z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{"Label":"1","ContentProducer":"001191110102MACQD9K64010000","ProduceID":"7657594913466649587","ReservedCode1":"","ContentPropagator":"","PropagateID":"","ReservedCode2":""}</vt:lpwstr>
  </property>
  <property fmtid="{D5CDD505-2E9C-101B-9397-08002B2CF9AE}" pid="3" name="ICV">
    <vt:lpwstr>3AF4853340B44AA7B770B54139CE78D0_13</vt:lpwstr>
  </property>
  <property fmtid="{D5CDD505-2E9C-101B-9397-08002B2CF9AE}" pid="4" name="KSOProductBuildVer">
    <vt:lpwstr>2052-12.1.0.26895</vt:lpwstr>
  </property>
</Properties>
</file>